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us Jakarta Sans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lus Jakarta Sans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Medium-bold.fntdata"/><Relationship Id="rId25" Type="http://schemas.openxmlformats.org/officeDocument/2006/relationships/font" Target="fonts/PlusJakartaSansMedium-regular.fntdata"/><Relationship Id="rId28" Type="http://schemas.openxmlformats.org/officeDocument/2006/relationships/font" Target="fonts/PlusJakartaSansMedium-boldItalic.fntdata"/><Relationship Id="rId27" Type="http://schemas.openxmlformats.org/officeDocument/2006/relationships/font" Target="fonts/PlusJakarta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regular.fntdata"/><Relationship Id="rId16" Type="http://schemas.openxmlformats.org/officeDocument/2006/relationships/slide" Target="slides/slide11.xml"/><Relationship Id="rId19" Type="http://schemas.openxmlformats.org/officeDocument/2006/relationships/font" Target="fonts/PlusJakartaSans-italic.fntdata"/><Relationship Id="rId1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9d6418f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9d6418f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9d6418f6e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9d6418f6e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9d6418f6e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d9d6418f6e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9d6418f6e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9d6418f6e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9d6418f6e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9d6418f6e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9d6418f6e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9d6418f6e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9d6418f6e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9d6418f6e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9d6418f6e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9d6418f6e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9d6418f6e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9d6418f6e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9d6418f6e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9d6418f6e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9d6418f6e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9d6418f6e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14" name="Google Shape;14;p2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17" name="Google Shape;17;p2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0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1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2" name="Google Shape;82;p13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3" name="Google Shape;83;p13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6" name="Google Shape;86;p13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2" name="Google Shape;92;p13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5" name="Google Shape;95;p13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9" name="Google Shape;99;p14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0" name="Google Shape;100;p14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2" name="Google Shape;102;p14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5" name="Google Shape;105;p14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6" name="Google Shape;106;p14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8" name="Google Shape;108;p14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9" name="Google Shape;109;p14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1" name="Google Shape;111;p14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2" name="Google Shape;112;p14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4" name="Google Shape;114;p14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5" name="Google Shape;115;p14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7" name="Google Shape;117;p14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8" name="Google Shape;118;p14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20" name="Google Shape;120;p14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3" name="Google Shape;123;p15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16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6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6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6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6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16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49" name="Google Shape;149;p20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51" name="Google Shape;151;p20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4" name="Google Shape;154;p21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1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6" name="Google Shape;156;p21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7" name="Google Shape;157;p21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8" name="Google Shape;158;p21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9" name="Google Shape;159;p21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0" name="Google Shape;160;p21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166" name="Google Shape;166;p22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167" name="Google Shape;167;p22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23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" name="Google Shape;179;p24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4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2" name="Google Shape;182;p24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3" name="Google Shape;183;p24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4" name="Google Shape;184;p24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5" name="Google Shape;185;p24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24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4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25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9" name="Google Shape;199;p25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9" name="Google Shape;229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6" name="Google Shape;236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2" name="Google Shape;242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6" name="Google Shape;246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7" name="Google Shape;247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3" name="Google Shape;253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4" name="Google Shape;254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7" name="Google Shape;257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6" name="Google Shape;26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9" name="Google Shape;26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" name="Google Shape;27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7" name="Google Shape;27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2" name="Google Shape;28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idx="1" type="subTitle"/>
          </p:nvPr>
        </p:nvSpPr>
        <p:spPr>
          <a:xfrm>
            <a:off x="4897375" y="2609925"/>
            <a:ext cx="3679800" cy="5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Satish | Data Analytics Capstone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4/27/2026</a:t>
            </a:r>
            <a:endParaRPr/>
          </a:p>
        </p:txBody>
      </p:sp>
      <p:sp>
        <p:nvSpPr>
          <p:cNvPr id="301" name="Google Shape;301;p45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Bellabeat Fitness Data Analysis Case Study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228600" y="228600"/>
            <a:ext cx="64803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 </a:t>
            </a:r>
            <a:endParaRPr/>
          </a:p>
        </p:txBody>
      </p:sp>
      <p:sp>
        <p:nvSpPr>
          <p:cNvPr id="307" name="Google Shape;307;p46"/>
          <p:cNvSpPr txBox="1"/>
          <p:nvPr>
            <p:ph idx="1" type="subTitle"/>
          </p:nvPr>
        </p:nvSpPr>
        <p:spPr>
          <a:xfrm>
            <a:off x="228600" y="1417057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Bellabeat is a wellness tech company focused on women’s health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company wants to understand how users interact with smart wellness devices to improve marketing strategy and product engagement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Fitbit data as a proxy for user behavior in fitness trackers</a:t>
            </a:r>
            <a:endParaRPr/>
          </a:p>
        </p:txBody>
      </p:sp>
      <p:grpSp>
        <p:nvGrpSpPr>
          <p:cNvPr id="308" name="Google Shape;308;p46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09" name="Google Shape;309;p46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10" name="Google Shape;310;p46"/>
            <p:cNvSpPr/>
            <p:nvPr/>
          </p:nvSpPr>
          <p:spPr>
            <a:xfrm>
              <a:off x="8498250" y="4495332"/>
              <a:ext cx="267900" cy="2676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316" name="Google Shape;316;p47"/>
          <p:cNvSpPr txBox="1"/>
          <p:nvPr>
            <p:ph idx="1" type="subTitle"/>
          </p:nvPr>
        </p:nvSpPr>
        <p:spPr>
          <a:xfrm>
            <a:off x="199200" y="1199200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The dataset include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35 users of Fitbit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1,300+ daily records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Daily activity (steps, calories, intensity)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>
                <a:solidFill>
                  <a:schemeClr val="lt1"/>
                </a:solidFill>
              </a:rPr>
              <a:t>Sleep activity (duration, time in bed)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47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18" name="Google Shape;318;p47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19" name="Google Shape;319;p47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20" name="Google Shape;320;p47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21" name="Google Shape;321;p47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327" name="Google Shape;327;p48"/>
          <p:cNvSpPr txBox="1"/>
          <p:nvPr>
            <p:ph idx="1" type="subTitle"/>
          </p:nvPr>
        </p:nvSpPr>
        <p:spPr>
          <a:xfrm>
            <a:off x="199200" y="130482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ombined two datasets (different time periods)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Cleaned data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Checked duplicates and structure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Created activity level categories (sedentary → very active)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Created new feature: HoursAsleep from MinutesAsleep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Merged sleep and activity datasets using Id for combined analysis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Used Matplotlib to create visualizations for trends and insights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48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29" name="Google Shape;329;p48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0" name="Google Shape;330;p48"/>
            <p:cNvGrpSpPr/>
            <p:nvPr/>
          </p:nvGrpSpPr>
          <p:grpSpPr>
            <a:xfrm>
              <a:off x="8354096" y="4502968"/>
              <a:ext cx="556205" cy="252332"/>
              <a:chOff x="4571989" y="769200"/>
              <a:chExt cx="2320422" cy="1052700"/>
            </a:xfrm>
          </p:grpSpPr>
          <p:sp>
            <p:nvSpPr>
              <p:cNvPr id="331" name="Google Shape;331;p48"/>
              <p:cNvSpPr/>
              <p:nvPr/>
            </p:nvSpPr>
            <p:spPr>
              <a:xfrm>
                <a:off x="5691810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48"/>
              <p:cNvSpPr/>
              <p:nvPr/>
            </p:nvSpPr>
            <p:spPr>
              <a:xfrm flipH="1">
                <a:off x="4571989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type="title"/>
          </p:nvPr>
        </p:nvSpPr>
        <p:spPr>
          <a:xfrm>
            <a:off x="228600" y="228600"/>
            <a:ext cx="3713100" cy="42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Behavior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Majority of time is spent in sedentary behavior</a:t>
            </a:r>
            <a:endParaRPr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Very active periods are also highly frequent</a:t>
            </a:r>
            <a:endParaRPr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show two dominant behavior patterns: long periods of inactivity and short bursts of high intensity activity</a:t>
            </a:r>
            <a:endParaRPr/>
          </a:p>
        </p:txBody>
      </p:sp>
      <p:pic>
        <p:nvPicPr>
          <p:cNvPr id="338" name="Google Shape;3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797" y="677544"/>
            <a:ext cx="3837474" cy="3788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type="title"/>
          </p:nvPr>
        </p:nvSpPr>
        <p:spPr>
          <a:xfrm>
            <a:off x="228600" y="228600"/>
            <a:ext cx="3713100" cy="39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vs. Calories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Positive relationship between steps and calories burned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More activity = higher energy expenditure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975" y="1204983"/>
            <a:ext cx="3713101" cy="273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228600" y="228600"/>
            <a:ext cx="3713100" cy="49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 Behavior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Average sleep duration: ~7 hours (419 minutes)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Sleep ranges from ~1 to 13 hours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High variability in sleep patterns across users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Presence of a few extreme outliers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350" name="Google Shape;3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275" y="937525"/>
            <a:ext cx="4062125" cy="32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228600" y="55457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 vs Activity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 strong correlation between steps and sleep duration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Activity levels do not predict sleep quality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Data points are widely scattered with no clear pattern</a:t>
            </a:r>
            <a:endParaRPr sz="1800"/>
          </a:p>
        </p:txBody>
      </p:sp>
      <p:pic>
        <p:nvPicPr>
          <p:cNvPr id="356" name="Google Shape;3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550" y="1245888"/>
            <a:ext cx="3342450" cy="26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362" name="Google Shape;362;p53"/>
          <p:cNvSpPr txBox="1"/>
          <p:nvPr>
            <p:ph idx="1" type="subTitle"/>
          </p:nvPr>
        </p:nvSpPr>
        <p:spPr>
          <a:xfrm>
            <a:off x="199200" y="1352500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are mostly sedentary across the dataset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Activity levels are inconsistent across days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Some users are highly active, but not the majority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No strong relationship between activity and sleep behavior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Activity and sleep patterns vary significantly across users</a:t>
            </a:r>
            <a:endParaRPr/>
          </a:p>
        </p:txBody>
      </p:sp>
      <p:grpSp>
        <p:nvGrpSpPr>
          <p:cNvPr id="363" name="Google Shape;363;p53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64" name="Google Shape;364;p53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5" name="Google Shape;365;p53"/>
            <p:cNvGrpSpPr/>
            <p:nvPr/>
          </p:nvGrpSpPr>
          <p:grpSpPr>
            <a:xfrm>
              <a:off x="8354096" y="4502968"/>
              <a:ext cx="556205" cy="252332"/>
              <a:chOff x="4571989" y="769200"/>
              <a:chExt cx="2320422" cy="1052700"/>
            </a:xfrm>
          </p:grpSpPr>
          <p:sp>
            <p:nvSpPr>
              <p:cNvPr id="366" name="Google Shape;366;p53"/>
              <p:cNvSpPr/>
              <p:nvPr/>
            </p:nvSpPr>
            <p:spPr>
              <a:xfrm>
                <a:off x="5691810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53"/>
              <p:cNvSpPr/>
              <p:nvPr/>
            </p:nvSpPr>
            <p:spPr>
              <a:xfrm flipH="1">
                <a:off x="4571989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Recommendations</a:t>
            </a:r>
            <a:endParaRPr/>
          </a:p>
        </p:txBody>
      </p:sp>
      <p:sp>
        <p:nvSpPr>
          <p:cNvPr id="373" name="Google Shape;373;p54"/>
          <p:cNvSpPr txBox="1"/>
          <p:nvPr>
            <p:ph idx="1" type="subTitle"/>
          </p:nvPr>
        </p:nvSpPr>
        <p:spPr>
          <a:xfrm>
            <a:off x="199200" y="14700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sleep + activity tracking into unified wellness insights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Provide personalized recommendations based on behavior patterns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Encourage habit-building for both movement and sleep consistency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Segment users based on lifestyle patterns for targeted engagement</a:t>
            </a:r>
            <a:endParaRPr/>
          </a:p>
        </p:txBody>
      </p:sp>
      <p:grpSp>
        <p:nvGrpSpPr>
          <p:cNvPr id="374" name="Google Shape;374;p54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75" name="Google Shape;375;p54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54"/>
            <p:cNvGrpSpPr/>
            <p:nvPr/>
          </p:nvGrpSpPr>
          <p:grpSpPr>
            <a:xfrm>
              <a:off x="8354096" y="4502968"/>
              <a:ext cx="556205" cy="252332"/>
              <a:chOff x="4571989" y="769200"/>
              <a:chExt cx="2320422" cy="1052700"/>
            </a:xfrm>
          </p:grpSpPr>
          <p:sp>
            <p:nvSpPr>
              <p:cNvPr id="377" name="Google Shape;377;p54"/>
              <p:cNvSpPr/>
              <p:nvPr/>
            </p:nvSpPr>
            <p:spPr>
              <a:xfrm>
                <a:off x="5691810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54"/>
              <p:cNvSpPr/>
              <p:nvPr/>
            </p:nvSpPr>
            <p:spPr>
              <a:xfrm flipH="1">
                <a:off x="4571989" y="769200"/>
                <a:ext cx="1200600" cy="1052700"/>
              </a:xfrm>
              <a:prstGeom prst="pie">
                <a:avLst>
                  <a:gd fmla="val 5410573" name="adj1"/>
                  <a:gd fmla="val 16200000" name="adj2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/>
        </p:nvSpPr>
        <p:spPr>
          <a:xfrm>
            <a:off x="228600" y="229900"/>
            <a:ext cx="1032000" cy="292800"/>
          </a:xfrm>
          <a:prstGeom prst="roundRect">
            <a:avLst>
              <a:gd fmla="val 2689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References</a:t>
            </a:r>
            <a:endParaRPr sz="1000">
              <a:solidFill>
                <a:schemeClr val="accen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84" name="Google Shape;384;p55"/>
          <p:cNvSpPr txBox="1"/>
          <p:nvPr>
            <p:ph type="title"/>
          </p:nvPr>
        </p:nvSpPr>
        <p:spPr>
          <a:xfrm>
            <a:off x="228600" y="1117375"/>
            <a:ext cx="64803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Fitbit Fitness Tracker Data (Kaggle)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https://www.kaggle.com/datasets/arashnic/fitbit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Bellabeat case study materials (Google Data Analytics Certificate)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